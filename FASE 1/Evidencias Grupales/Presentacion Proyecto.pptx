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+ur8roXE2SpLaZztcszyUnK2w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B1FD99-4927-49C6-A373-8D513A1161DB}">
  <a:tblStyle styleId="{45B1FD99-4927-49C6-A373-8D513A1161D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8ccf7100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f8ccf71009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8ccf7100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f8ccf71009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8ccf7100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f8ccf71009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Presentación Portafolio </a:t>
            </a:r>
            <a:r>
              <a:rPr lang="es-CL"/>
              <a:t>Título</a:t>
            </a:r>
            <a:br>
              <a:rPr lang="es-CL"/>
            </a:br>
            <a:r>
              <a:rPr lang="es-CL" sz="3200"/>
              <a:t>“</a:t>
            </a:r>
            <a:r>
              <a:rPr lang="es-CL" sz="3200"/>
              <a:t>SG-PSG: Taller Mecánico Interno </a:t>
            </a:r>
            <a:r>
              <a:rPr lang="es-CL" sz="3200"/>
              <a:t>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062125" y="1381975"/>
            <a:ext cx="6781052" cy="5067810"/>
            <a:chOff x="0" y="0"/>
            <a:chExt cx="6781052" cy="3415887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62952" y="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Nicolás Olave Sepúlveda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 &amp; Backend Lead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Planificación, arquitectura de software, reglas de negocio y seguridad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06749" y="106749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174243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462952" y="1174243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Cristóbal Soto Álvarez</a:t>
              </a:r>
              <a:endParaRPr b="0" i="0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Frontend &amp; Diseñador UI/UX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Maquetación responsiva, diseño de interfaces y experiencia de usuario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06749" y="1280992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348487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462952" y="2348487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Antonio Venegas Benavides 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Administrador de Base de Datos NoSQL &amp; QA Tester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Modelado de datos en Cloud Firestore, integridad y control de calidad/pruebas</a:t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06749" y="2455236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714909" y="2169769"/>
            <a:ext cx="4427360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manual y descentralizada de flota en PSG Servicios SpA, extravío de antecedentes técnicos en papel, falta de trazabilidad en reparaciones y ausencia de métricas gerenciales en tiempo real.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912079" y="2177325"/>
            <a:ext cx="4641292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web centralizada con navegación por panel lateral, control de vigencias legales, flujo estandarizado de 6 estados de OT, bitácora inmutable de observaciones protegida contra edición, emisión de ficha física para terreno y dashboard con 3 KPIs operacionales.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e implementar una plataforma web centralizada para la gestión de flota vehicular y control operativo de órdenes de trabajo en PSG Servicios SpA, optimizando tiempos de atención, asegurando auditoría inmutable y generando analítica operacional en un plazo de 16 semanas.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14525" y="4732399"/>
            <a:ext cx="10962900" cy="1790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 Diseñar e implementar persistencia NoSQL escalable en Cloud Firestore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 Construir interfaz web reactiva con panel lateral persistente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3) Programar flujo de 6 estados de OT y reglas de inmutabilidad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4) Desarrollar ficha imprimible y motor de 3 KPIs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5) Certificar calidad mediante pruebas funcionales.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152400" y="4009875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914374" y="1664801"/>
            <a:ext cx="10072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Autenticación por roles; catálogo de flota y control de vencimientos (RT, gases, SOAP, permisos); flujo de 6 estados de OTs con asignación de mecánicos y repuestos; bitácora inmutable con captura automática de autor y fecha/hora; ficha imprimible; dashboard con 3 gráficos de KPIs.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Facturación electrónica ante el SII; gestión de remuneraciones o contratos laborales; pasarela de pagos web; conexión de telemetría GPS u OBD-II en tiempo real.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Usuarios</a:t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Supervisor de Operaciones: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usuarios y contratos, auditoría general de flota y visualización global de reportes y KPIs.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Jefe de Taller: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Apertura y edición de OTs, asignación de repuestos/mecánicos, registro en bitácora, actualización de estados y emisión de la ficha física.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Técnico Mecánico: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Ejecución física de reparaciones en base a la ficha impresa entregada por el Jefe de Taller (sin acceso directo al sistema).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Conductor / Operador: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Traslado del vehículo a taller, entrega de documentación física y declaración inicial de fallas o anomalías.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95641" y="442992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</a:t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2267800" y="1195700"/>
            <a:ext cx="8343300" cy="5553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Requerimientos Funcionales: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R.1: Autenticación y recuperación de clave.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R.2: Gestión de perfil.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R.3: Inicio con semáforo operativo.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R.4 y R.5: Catálogo vehicular y control de vencimientos.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R.6 y R.7: Apertura de OT y asignación de fallas/repuestos/mecánico.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R.8: Carga de evidencias fotográficas.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R.9: Flujo de 6 estados.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R.10: Bitácora inmutable de observaciones.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R.11: Historial y auditoría de OTs.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R.12: Ficha imprimible para terreno.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R.13: Dashboard de 3 KPIs.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R.14: Panel lateral de navegación persistente.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Requerimientos No Funcionales: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R.15: Rendimiento (&lt; 2.5 s).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R.16: Seguridad (HTTPS / TLS 1.3 y reglas NoSQL).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R.17: Disponibilidad (99.5%).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R.18: Usabilidad (estándar UX para taller).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R.19: Portabilidad (web responsive multiplataforma).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40" name="Google Shape;140;p8"/>
          <p:cNvSpPr txBox="1"/>
          <p:nvPr/>
        </p:nvSpPr>
        <p:spPr>
          <a:xfrm>
            <a:off x="757371" y="1848351"/>
            <a:ext cx="473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Módulo de Inicio</a:t>
            </a:r>
            <a:endParaRPr/>
          </a:p>
        </p:txBody>
      </p:sp>
      <p:pic>
        <p:nvPicPr>
          <p:cNvPr id="141" name="Google Shape;14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375" y="2415175"/>
            <a:ext cx="5400675" cy="360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 txBox="1"/>
          <p:nvPr/>
        </p:nvSpPr>
        <p:spPr>
          <a:xfrm>
            <a:off x="6333500" y="18021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Módulo de Inicio de Sesión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8"/>
          <p:cNvPicPr preferRelativeResize="0"/>
          <p:nvPr/>
        </p:nvPicPr>
        <p:blipFill rotWithShape="1">
          <a:blip r:embed="rId4">
            <a:alphaModFix/>
          </a:blip>
          <a:srcRect b="11708" l="0" r="6350" t="0"/>
          <a:stretch/>
        </p:blipFill>
        <p:spPr>
          <a:xfrm>
            <a:off x="6333500" y="2415175"/>
            <a:ext cx="3705225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49" name="Google Shape;149;p9"/>
          <p:cNvSpPr txBox="1"/>
          <p:nvPr/>
        </p:nvSpPr>
        <p:spPr>
          <a:xfrm>
            <a:off x="641242" y="1589331"/>
            <a:ext cx="999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Módulo de Panel Lateral</a:t>
            </a:r>
            <a:endParaRPr/>
          </a:p>
        </p:txBody>
      </p:sp>
      <p:pic>
        <p:nvPicPr>
          <p:cNvPr id="150" name="Google Shape;15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250" y="1897122"/>
            <a:ext cx="1857375" cy="477597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9"/>
          <p:cNvSpPr txBox="1"/>
          <p:nvPr/>
        </p:nvSpPr>
        <p:spPr>
          <a:xfrm>
            <a:off x="5077050" y="15893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Módulo de Registro de Vehículos</a:t>
            </a:r>
            <a:endParaRPr/>
          </a:p>
        </p:txBody>
      </p:sp>
      <p:pic>
        <p:nvPicPr>
          <p:cNvPr id="152" name="Google Shape;152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6813" y="2422975"/>
            <a:ext cx="5400675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8ccf71009_0_18"/>
          <p:cNvSpPr txBox="1"/>
          <p:nvPr>
            <p:ph type="title"/>
          </p:nvPr>
        </p:nvSpPr>
        <p:spPr>
          <a:xfrm>
            <a:off x="641252" y="106851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58" name="Google Shape;158;g3f8ccf71009_0_18"/>
          <p:cNvSpPr txBox="1"/>
          <p:nvPr/>
        </p:nvSpPr>
        <p:spPr>
          <a:xfrm>
            <a:off x="641242" y="1589331"/>
            <a:ext cx="999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Módulo de Historial de OT</a:t>
            </a:r>
            <a:endParaRPr/>
          </a:p>
        </p:txBody>
      </p:sp>
      <p:sp>
        <p:nvSpPr>
          <p:cNvPr id="159" name="Google Shape;159;g3f8ccf71009_0_18"/>
          <p:cNvSpPr txBox="1"/>
          <p:nvPr/>
        </p:nvSpPr>
        <p:spPr>
          <a:xfrm>
            <a:off x="7777763" y="17312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Módulo de Listado de Vehículos</a:t>
            </a:r>
            <a:endParaRPr/>
          </a:p>
        </p:txBody>
      </p:sp>
      <p:pic>
        <p:nvPicPr>
          <p:cNvPr id="160" name="Google Shape;160;g3f8ccf71009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925" y="2786975"/>
            <a:ext cx="5400675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f8ccf71009_0_18"/>
          <p:cNvPicPr preferRelativeResize="0"/>
          <p:nvPr/>
        </p:nvPicPr>
        <p:blipFill rotWithShape="1">
          <a:blip r:embed="rId4">
            <a:alphaModFix/>
          </a:blip>
          <a:srcRect b="0" l="0" r="0" t="1078"/>
          <a:stretch/>
        </p:blipFill>
        <p:spPr>
          <a:xfrm>
            <a:off x="6404850" y="2273300"/>
            <a:ext cx="5400675" cy="391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8ccf71009_0_30"/>
          <p:cNvSpPr txBox="1"/>
          <p:nvPr>
            <p:ph type="title"/>
          </p:nvPr>
        </p:nvSpPr>
        <p:spPr>
          <a:xfrm>
            <a:off x="641252" y="106851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67" name="Google Shape;167;g3f8ccf71009_0_30"/>
          <p:cNvSpPr txBox="1"/>
          <p:nvPr/>
        </p:nvSpPr>
        <p:spPr>
          <a:xfrm>
            <a:off x="641242" y="1589331"/>
            <a:ext cx="999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Módulo de Creación de OT</a:t>
            </a:r>
            <a:endParaRPr/>
          </a:p>
        </p:txBody>
      </p:sp>
      <p:sp>
        <p:nvSpPr>
          <p:cNvPr id="168" name="Google Shape;168;g3f8ccf71009_0_30"/>
          <p:cNvSpPr txBox="1"/>
          <p:nvPr/>
        </p:nvSpPr>
        <p:spPr>
          <a:xfrm>
            <a:off x="7777763" y="17312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Módulo de Observaciones de OT</a:t>
            </a:r>
            <a:endParaRPr/>
          </a:p>
        </p:txBody>
      </p:sp>
      <p:pic>
        <p:nvPicPr>
          <p:cNvPr id="169" name="Google Shape;169;g3f8ccf71009_0_30"/>
          <p:cNvPicPr preferRelativeResize="0"/>
          <p:nvPr/>
        </p:nvPicPr>
        <p:blipFill rotWithShape="1">
          <a:blip r:embed="rId3">
            <a:alphaModFix/>
          </a:blip>
          <a:srcRect b="44818" l="0" r="1546" t="0"/>
          <a:stretch/>
        </p:blipFill>
        <p:spPr>
          <a:xfrm>
            <a:off x="438575" y="2273300"/>
            <a:ext cx="5316950" cy="4541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f8ccf71009_0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7438" y="2827500"/>
            <a:ext cx="5400675" cy="36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8ccf71009_0_42"/>
          <p:cNvSpPr txBox="1"/>
          <p:nvPr>
            <p:ph type="title"/>
          </p:nvPr>
        </p:nvSpPr>
        <p:spPr>
          <a:xfrm>
            <a:off x="641252" y="106851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76" name="Google Shape;176;g3f8ccf71009_0_42"/>
          <p:cNvSpPr txBox="1"/>
          <p:nvPr/>
        </p:nvSpPr>
        <p:spPr>
          <a:xfrm>
            <a:off x="641242" y="1589331"/>
            <a:ext cx="999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Módulo Reportes</a:t>
            </a:r>
            <a:endParaRPr/>
          </a:p>
        </p:txBody>
      </p:sp>
      <p:sp>
        <p:nvSpPr>
          <p:cNvPr id="177" name="Google Shape;177;g3f8ccf71009_0_42"/>
          <p:cNvSpPr txBox="1"/>
          <p:nvPr/>
        </p:nvSpPr>
        <p:spPr>
          <a:xfrm>
            <a:off x="7777763" y="17312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Módulo de Registro de Usuarios</a:t>
            </a:r>
            <a:endParaRPr/>
          </a:p>
        </p:txBody>
      </p:sp>
      <p:pic>
        <p:nvPicPr>
          <p:cNvPr id="178" name="Google Shape;178;g3f8ccf71009_0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400" y="2841788"/>
            <a:ext cx="5400675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f8ccf71009_0_42"/>
          <p:cNvPicPr preferRelativeResize="0"/>
          <p:nvPr/>
        </p:nvPicPr>
        <p:blipFill rotWithShape="1">
          <a:blip r:embed="rId4">
            <a:alphaModFix/>
          </a:blip>
          <a:srcRect b="0" l="0" r="5714" t="0"/>
          <a:stretch/>
        </p:blipFill>
        <p:spPr>
          <a:xfrm>
            <a:off x="6729838" y="2484613"/>
            <a:ext cx="5095875" cy="42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Hitos Importantes </a:t>
            </a:r>
            <a:endParaRPr/>
          </a:p>
        </p:txBody>
      </p:sp>
      <p:graphicFrame>
        <p:nvGraphicFramePr>
          <p:cNvPr id="185" name="Google Shape;185;p10"/>
          <p:cNvGraphicFramePr/>
          <p:nvPr/>
        </p:nvGraphicFramePr>
        <p:xfrm>
          <a:off x="1140984" y="19516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{45B1FD99-4927-49C6-A373-8D513A1161DB}</a:tableStyleId>
              </a:tblPr>
              <a:tblGrid>
                <a:gridCol w="4171100"/>
                <a:gridCol w="5583400"/>
              </a:tblGrid>
              <a:tr h="73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</a:rPr>
                        <a:t>Nombre Fase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</a:rPr>
                        <a:t>Fechas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/>
                </a:tc>
              </a:tr>
              <a:tr h="730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Hito 1 (Fase 1 - Semana 5)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17/08/2026 al 07/09/2026</a:t>
                      </a:r>
                      <a:endParaRPr sz="2000"/>
                    </a:p>
                  </a:txBody>
                  <a:tcPr marT="0" marB="0" marR="68575" marL="68575"/>
                </a:tc>
              </a:tr>
              <a:tr h="720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Hito 2 (Fase 2.1 - Semana 8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08/09/2026 al 30/09/2026 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73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Hito 3 (Fase 2.2 - Semana 14)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01/10/2026 al 09/11/2026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720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Pruebas y QA (Semanas 15 a 17)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10/11/2026 al 27/11/2026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73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s-CL" sz="1800"/>
                        <a:t>Hito 4 (Fase 3 - Semanas 17-18)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30/11/2026 al 05/12/2026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/>
          <p:cNvSpPr txBox="1"/>
          <p:nvPr>
            <p:ph type="title"/>
          </p:nvPr>
        </p:nvSpPr>
        <p:spPr>
          <a:xfrm>
            <a:off x="706567" y="901597"/>
            <a:ext cx="10515600" cy="586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Costos por Fase </a:t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782337" y="1681843"/>
            <a:ext cx="10247613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Desglose de Fases: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1 Planificación: $1.055.000 (70 hrs)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2 Análisis y Diseño: $1.700.000 (120 hrs)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3 Desarrollo: $3.080.000 (210 hrs)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4 Pruebas y QA: $1.380.000 (100 hrs)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 5 Cierre: $1.025.000 (70 hrs).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Consolidado: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 Directo Mano de Obra: $8.240.000 (570 hrs)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 Infraestructura: $0 (Firebase Spark)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Margen de Utilidad (60%): $4.944.000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Precio Final Cotizado: $13.184.000.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97" name="Google Shape;197;p12"/>
          <p:cNvSpPr txBox="1"/>
          <p:nvPr/>
        </p:nvSpPr>
        <p:spPr>
          <a:xfrm>
            <a:off x="641252" y="1828016"/>
            <a:ext cx="108612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&amp; Lógica: Python 3.11 con arquitectura desacoplada.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 NoSQL: Google Cloud Firestore con colecciones estructuradas y reglas de inmutabilidad.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Autenticación &amp; Almacenamiento: Firebase Authentication y Firebase Storage.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 &amp; Gráficos: HTML5, CSS responsive, JavaScript interactivo y Chart.js para visualización de KPIs.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&amp; Versionamiento: Git / GitHub y Jira/Trello para gestión ágil Scrum.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 txBox="1"/>
          <p:nvPr/>
        </p:nvSpPr>
        <p:spPr>
          <a:xfrm>
            <a:off x="609558" y="699121"/>
            <a:ext cx="10515600" cy="1053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Conclusión  </a:t>
            </a:r>
            <a:endParaRPr/>
          </a:p>
        </p:txBody>
      </p:sp>
      <p:sp>
        <p:nvSpPr>
          <p:cNvPr id="203" name="Google Shape;203;p13"/>
          <p:cNvSpPr/>
          <p:nvPr/>
        </p:nvSpPr>
        <p:spPr>
          <a:xfrm>
            <a:off x="839475" y="1601000"/>
            <a:ext cx="10365600" cy="4782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Solución Operacional para PSG Servicios SpA: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Digitalización Total de Flota: Reemplaza las planillas aisladas y el papel por una plataforma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centralizada que unifica el control de vehículos y previene detenciones por vencimientos legales.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Terreno-Taller: Conecta la gestión digital del Jefe de Taller con la labor manual del mecánico mediante la ficha física imprimible, adaptándose a la dinámica real del taller mecánico.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Aporte Técnico del Equipo de Desarrollo: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Auditoría y Seguridad Inmutable: Implementación de una bitácora protegida a nivel de base de datos NoSQL que bloquea la edición o eliminación de registros, asegurando transparencia absoluta en cada reparación.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Analítica Gerencial en Tiempo Real: Automatización de 3 KPIs críticos para visibilizar cuellos de botella y optimizar los tiempos de entrega de los móviles.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y Viabilidad Cerrada: Solución respaldada por un alcance acotado de 104 Story Points, 570 horas hombre de esfuerzo y una estructura de costos equilibrada ($8.240.000 costo directo y $13.184.000 precio final).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